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 durch alle drei Vortragenden, kurze Vorstellung. Ziel der Präsentation nennen: Nach den nächsten 35-40 Minuten könnt ihr Kombinatorik-Aufgaben erkennen und lösen - und versteht, warum z.B. ein Lotto-Sechser so unwahrscheinlich ist. Überleitung zu Person A für die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A stellt die Agenda vor und liest die Einstiegsfrage laut vor. Schätzungen aus dem Publikum zulassen (10? 100? 10.000?) - die Auflösung kommt erst bei der Variation mit Wiederholung (Folie 7). Überleitung zu Person B: 'Bevor wir das beantworten können, brauchen wir das Zählprinzip.'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B erklärt das Zählprinzip Schritt für Schritt am Outfit-Beispiel: für jedes der 3 Hemden gibt es 4 Hosen -&gt; 12 Kombinationen, für jede davon 2 Paar Schuhe -&gt; 3*4*2=24 Outfits. Betonen: Das Zählprinzip ist die Basis für ALLE folgenden Formeln (Permutation, Variation, Kombination)! Überleitung zu Person C: 'Was passiert, wenn wir ALLE Elemente in eine Reihenfolge bringen wollen?'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C erklärt zuerst die Permutation ohne Wiederholung anhand des Baumdiagramms (3 Freunde -&gt; 6 Sitzordnungen) und rechnet danach 5! = 120 für 5 Personen vor. Danach das ANANAS-Beispiel: 6 Buchstaben, aber A kommt 3x und N 2x vor - deshalb 6!/(3!*2!*1!) = 60 statt 6! = 720. Überleitung zu Person A für die erste Übungsaufgabe.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A liest beide Aufgaben vor und gibt ca. 2 Minuten Zeit zum Nachdenken/Diskutieren in kleinen Gruppen. Tipp falls jemand nicht weiterkommt: Aufgabe 1 hat 3 unabhängige Schritte (Zählprinzip aus Folie 3), Aufgabe 2 verteilt ALLE 6 Personen auf ALLE Plätze (Permutation aus Folie 4). Überleitung zu Person B für die Lösung.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B löst beide Aufgaben gemeinsam mit dem Publikum auf. Aufgabe 1: 3*5*2=30 (Zählprinzip, drei unabhängige Schritte). Aufgabe 2: 6!=720 (Permutation, alle Personen werden angeordnet). Überleitung zu Person C: 'Was ist, wenn nicht ALLE Plätze besetzt werden, sondern nur ein Teil - z. B. nur die ersten drei beim Sportwettkampf?'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C erklärt die Variation ohne Wiederholung am Stockerlplatz: 8 Läufer, aber nur 3 Plätze, Reihenfolge zählt -&gt; V(8,3)=8!/5!=336. Danach Variation MIT Wiederholung und die Auflösung der Einstiegsfrage von Folie 2: PIN mit 4 Ziffern aus 10 möglichen (0-9), Wiederholung erlaubt -&gt; 10^4 = 10.000 PINs! Überleitung zu Person A: 'Jetzt kommt der dritte Fall: Was, wenn die Reihenfolge gar nicht wichtig ist?'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A erklärt Kombination ohne Wiederholung am Lotto-Beispiel 6 aus 45: Reihenfolge der gezogenen Zahlen ist egal -&gt; binom(45,6)=8.145.060 Möglichkeiten (Zahl wirkt riesig, wird auf Folie 14 für die Wahrscheinlichkeit gebraucht). Danach Kombination MIT Wiederholung am Eisbecher: 3 Kugeln aus 5 Sorten, man kann auch zweimal dieselbe Sorte nehmen -&gt; binom(7,3)=35. Überleitung zu Person B: 'Diese binom-Symbole erinnert euch vielleicht an etwas - das Pascal'sche Dreieck!'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B zeigt das Pascal'sche Dreieck: jede Zahl ist die Summe der beiden Zahlen darüber - das ist genau die Rekursionsformel binom(n,k)=binom(n-1,k-1)+binom(n-1,k). Die orange markierte 15 in Zeile 6 entspricht binom(6,2)=15 - dem Binomialkoeffizienten aus der Kombination (Folie 8). Das Dreieck ist also eine praktische Tabelle für alle Binomialkoeffizienten. Überleitung zu Person C für die zweite Übungsaufgabe.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C liest beide Aufgaben vor, ca. 2 Minuten Zeit zum Nachdenken. Tipp: Aufgabe 1 - die Reihenfolge (Platz 1/2/3) ist wichtig -&gt; Variation ohne Wiederholung, V(10,3). Aufgabe 2 - die Reihenfolge im Team ist egal -&gt; Kombination ohne Wiederholung, binom(7,3). Überleitung zu Person A für die Lösung.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A löst beide Aufgaben auf: V(10,3)=10!/7!=10*9*8=720 (Reihenfolge zählt). binom(7,3)=35 (Reihenfolge egal, Team-Zusammensetzung). Kurzer Vergleich: bei gleicher Auswahl ist die Variation immer GRÖSSER als die Kombination, weil sie zusätzlich die Reihenfolge mitzählt. Überleitung zu Person B: 'Jetzt verbinden wir das Zählen mit Wahrscheinlichkeiten.'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B führt die Laplace-Wahrscheinlichkeit ein: P(A) = |A|/|Omega|. Wichtig: |Omega| und |A| werden oft genau mit den Formeln aus den letzten Folien (Zählprinzip, Permutation, Variation, Kombination) berechnet - Kombinatorik und Wahrscheinlichkeit hängen also direkt zusammen! Die Voraussetzung betonen: Laplace funktioniert NUR, wenn alle Ergebnisse gleich wahrscheinlich sind. Überleitung zu Person C für das Würfel-Beispiel.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C zeigt das 6x6-Raster aller Würfelergebnisse: |Omega|=36 nach dem Zählprinzip (Folie 3). Die orange Diagonale sind die 6 Paschs -&gt; |A|=6. Mit der Laplace-Formel von Folie 12: P(Pasch)=6/36=1/6 ≈ 16,7%. Überleitung zu Person A: 'Jetzt kombinieren wir Laplace mit der riesigen Zahl vom Lotto-Beispiel.'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A verbindet die Kombination (Folie 8) mit Laplace: |Omega|=binom(45,6)=8.145.060, |A|=1 (genau der gezogene Tipp). P(6 Richtige)=1/8.145.060≈0,0000123%. Den Vergleich mit der österreichischen Bevölkerung nutzen, um die Größenordnung greifbar zu machen. Überleitung zu Person B für die dritte Übungsaufgabe (Urne).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B liest die Aufgabe vor und gibt ca. 2 Minuten Zeit. Tipp falls nötig: Reihenfolge spielt keine Rolle (gleichzeitiges Ziehen) -&gt; Kombination ohne Wiederholung für |Omega| und |A|. |Omega|=binom(10,2), |A|=binom(4,2). Überleitung zu Person C für die Lösung.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C löst die Aufgabe: |A|=binom(4,2)=6 (beide rot), |Omega|=binom(10,2)=45 (alle 2er-Ziehungen aus 10). P(beide rot)=6/45=2/15≈13,3%. Überleitung zu Person A für das Quiz: 'Jetzt seid ihr dran - testen wir, ob alles hängen geblieben ist!'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A liest die 3 Fragen vor. Das Publikum (14 Personen) ruft/zeigt jeweils A, B, C oder D als Antwort - kein Zwang zu schriftlichen Antworten, einfach laut abstimmen lassen. Nach jeder Frage kurz die Mehrheitsmeinung abfragen, bevor es zur Auflösung geht. Überleitung zu Person B für die Lösung.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B löst alle 3 Fragen auf und erklärt jeweils kurz, woran man das richtige Konzept erkennt: Frage 1 - alle Elemente, Reihenfolge wichtig -&gt; Permutation. Frage 2 - nur ein Teil, Reihenfolge wichtig -&gt; Variation. Frage 3 - nur ein Teil, Reihenfolge egal -&gt; Kombination. Überleitung zu Person C für die Übersichtstabelle.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C fasst alle 5 Konzepte in einer Tabelle zusammen - das ist die Eselsbrücke für die Matura: Zuerst fragen 'Ist die Reihenfolge wichtig?', dann 'Wird wiederholt / mit Zurücklegen gewählt?'. Diese zwei Ja/Nein-Fragen führen direkt zur richtigen Formel. Überleitung zu allen drei für die Zusammenfassung.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Jede Person spricht ihren eigenen Takeaway in 1-2 Sätzen, in der Reihenfolge A -&gt; B -&gt; C. Diese drei Sätze sollen das gesamte Thema in Kürze zusammenfassen und sind die 'Kernbotschaften', die das Publikum mitnehmen soll. Überleitung zu Folie 'Quellen' (kurz) und dann zum Abschluss.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Folie kurz zeigen (relevant für die Bewertung), Inhalt nicht im Detail vortragen - z. B. nur sagen 'Unsere Quellen findet ihr hier zum Nachlesen.' Vor der Abgabe den genauen Schulbuch-Titel/Verlag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drei bedanken sich gemeinsam und stehen für Fragen aus dem Publikum bereit. Falls keine Fragen kommen: selbst eine Anschlussfrage stellen, z. B. 'Welches der heutigen Beispiele hat euch am meisten überrascht?'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663440"/>
            <a:ext cx="3291840" cy="329184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5212080"/>
            <a:ext cx="1920240" cy="1920240"/>
          </a:xfrm>
          <a:prstGeom prst="ellipse">
            <a:avLst/>
          </a:prstGeom>
          <a:solidFill>
            <a:srgbClr val="F6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600" b="1" i="0">
                <a:solidFill>
                  <a:srgbClr val="F6C84C"/>
                </a:solidFill>
                <a:latin typeface="Calibri"/>
              </a:rPr>
              <a:t>MATURA MATHEMATIK  ·  STOCHASTIK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4800" b="1" i="0">
                <a:solidFill>
                  <a:srgbClr val="FFFFFF"/>
                </a:solidFill>
                <a:latin typeface="Calibri"/>
              </a:rPr>
              <a:t>Kombinatorik &amp; Wahrscheinlichkeit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2200" b="0" i="1">
                <a:solidFill>
                  <a:srgbClr val="E8F1FA"/>
                </a:solidFill>
                <a:latin typeface="Calibri"/>
              </a:rPr>
              <a:t>Wie viele Möglichkeiten gibt es wirklich?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FFFFFF"/>
                </a:solidFill>
                <a:latin typeface="Calibri"/>
              </a:rPr>
              <a:t>Vorgetragen von Person A, Person B &amp; Person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8A96A6"/>
                </a:solidFill>
                <a:latin typeface="Calibri"/>
              </a:rPr>
              <a:t>5. Klasse HAK · Angewandte Mathematik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Heute auf dem Programm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Agenda &amp; Einstiegsfrage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</a:rPr>
              <a:t>Person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349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400"/>
              </a:spcAft>
              <a:buClr>
                <a:srgbClr val="F28C3C"/>
              </a:buClr>
              <a:buFont typeface="Arial"/>
              <a:buChar char="•"/>
            </a:pPr>
            <a:r>
              <a:rPr sz="1800">
                <a:solidFill>
                  <a:srgbClr val="27303A"/>
                </a:solidFill>
                <a:latin typeface="Calibri"/>
              </a:rPr>
              <a:t>Das Zählprinzip - die Grundlage von allem</a:t>
            </a:r>
          </a:p>
          <a:p>
            <a:pPr marL="228600" indent="-228600">
              <a:spcAft>
                <a:spcPts val="1400"/>
              </a:spcAft>
              <a:buClr>
                <a:srgbClr val="F28C3C"/>
              </a:buClr>
              <a:buFont typeface="Arial"/>
              <a:buChar char="•"/>
            </a:pPr>
            <a:r>
              <a:rPr sz="1800">
                <a:solidFill>
                  <a:srgbClr val="27303A"/>
                </a:solidFill>
                <a:latin typeface="Calibri"/>
              </a:rPr>
              <a:t>Permutation - wie viele Reihenfolgen gibt es?</a:t>
            </a:r>
          </a:p>
          <a:p>
            <a:pPr marL="228600" indent="-228600">
              <a:spcAft>
                <a:spcPts val="1400"/>
              </a:spcAft>
              <a:buClr>
                <a:srgbClr val="F28C3C"/>
              </a:buClr>
              <a:buFont typeface="Arial"/>
              <a:buChar char="•"/>
            </a:pPr>
            <a:r>
              <a:rPr sz="1800">
                <a:solidFill>
                  <a:srgbClr val="27303A"/>
                </a:solidFill>
                <a:latin typeface="Calibri"/>
              </a:rPr>
              <a:t>Variation - Reihenfolge zählt, nicht alle werden gewählt</a:t>
            </a:r>
          </a:p>
          <a:p>
            <a:pPr marL="228600" indent="-228600">
              <a:spcAft>
                <a:spcPts val="1400"/>
              </a:spcAft>
              <a:buClr>
                <a:srgbClr val="F28C3C"/>
              </a:buClr>
              <a:buFont typeface="Arial"/>
              <a:buChar char="•"/>
            </a:pPr>
            <a:r>
              <a:rPr sz="1800">
                <a:solidFill>
                  <a:srgbClr val="27303A"/>
                </a:solidFill>
                <a:latin typeface="Calibri"/>
              </a:rPr>
              <a:t>Kombination - Auswahl ohne Reihenfolge (z. B. Lotto)</a:t>
            </a:r>
          </a:p>
          <a:p>
            <a:pPr marL="228600" indent="-228600">
              <a:spcAft>
                <a:spcPts val="1400"/>
              </a:spcAft>
              <a:buClr>
                <a:srgbClr val="F28C3C"/>
              </a:buClr>
              <a:buFont typeface="Arial"/>
              <a:buChar char="•"/>
            </a:pPr>
            <a:r>
              <a:rPr sz="1800">
                <a:solidFill>
                  <a:srgbClr val="27303A"/>
                </a:solidFill>
                <a:latin typeface="Calibri"/>
              </a:rPr>
              <a:t>Pascal'sches Dreieck &amp; Binomialkoeffizient</a:t>
            </a:r>
          </a:p>
          <a:p>
            <a:pPr marL="228600" indent="-228600">
              <a:spcAft>
                <a:spcPts val="1400"/>
              </a:spcAft>
              <a:buClr>
                <a:srgbClr val="F28C3C"/>
              </a:buClr>
              <a:buFont typeface="Arial"/>
              <a:buChar char="•"/>
            </a:pPr>
            <a:r>
              <a:rPr sz="1800">
                <a:solidFill>
                  <a:srgbClr val="27303A"/>
                </a:solidFill>
                <a:latin typeface="Calibri"/>
              </a:rPr>
              <a:t>Laplace-Wahrscheinlichkeit - von Zählen zu Chancen</a:t>
            </a:r>
          </a:p>
          <a:p>
            <a:pPr marL="228600" indent="-228600">
              <a:spcAft>
                <a:spcPts val="1400"/>
              </a:spcAft>
              <a:buClr>
                <a:srgbClr val="F28C3C"/>
              </a:buClr>
              <a:buFont typeface="Arial"/>
              <a:buChar char="•"/>
            </a:pPr>
            <a:r>
              <a:rPr sz="1800">
                <a:solidFill>
                  <a:srgbClr val="27303A"/>
                </a:solidFill>
                <a:latin typeface="Calibri"/>
              </a:rPr>
              <a:t>Quiz, Übersicht &amp; Zusammenfassung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5255" y="1234440"/>
            <a:ext cx="5349240" cy="5120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05295" y="1554480"/>
            <a:ext cx="2377440" cy="45720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EINSTIEGSFRAGE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295" y="22402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2000" b="1" i="0">
                <a:solidFill>
                  <a:srgbClr val="1B3A5C"/>
                </a:solidFill>
                <a:latin typeface="Calibri"/>
              </a:rPr>
              <a:t>Dein Handy hat einen 4-stelligen PIN-Code (Ziffern 0-9).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3200400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2000" b="0" i="0">
                <a:solidFill>
                  <a:srgbClr val="27303A"/>
                </a:solidFill>
                <a:latin typeface="Calibri"/>
              </a:rPr>
              <a:t>Wie viele verschiedene PINs sind möglich?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5255" y="3977640"/>
            <a:ext cx="5349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marL="0" indent="0">
              <a:buNone/>
            </a:pPr>
            <a:r>
              <a:rPr sz="6000" b="1">
                <a:solidFill>
                  <a:srgbClr val="F28C3C"/>
                </a:solidFill>
                <a:latin typeface="Calibri"/>
              </a:rPr>
              <a:t>?</a:t>
            </a:r>
            <a:r>
              <a:rPr sz="6000" b="1">
                <a:solidFill>
                  <a:srgbClr val="F28C3C"/>
                </a:solidFill>
                <a:latin typeface="Calibri"/>
              </a:rPr>
              <a:t>?</a:t>
            </a:r>
            <a:r>
              <a:rPr sz="6000" b="1">
                <a:solidFill>
                  <a:srgbClr val="F28C3C"/>
                </a:solidFill>
                <a:latin typeface="Calibri"/>
              </a:rPr>
              <a:t>?</a:t>
            </a:r>
            <a:r>
              <a:rPr sz="6000" b="1">
                <a:solidFill>
                  <a:srgbClr val="F28C3C"/>
                </a:solidFill>
                <a:latin typeface="Calibr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5349240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1">
                <a:solidFill>
                  <a:srgbClr val="8A96A6"/>
                </a:solidFill>
                <a:latin typeface="Calibri"/>
              </a:rPr>
              <a:t>Wir lösen das in wenigen Minuten - bei der Variation mit Wiederholung!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Die Grundlage der Kombinatorik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Das Zählprinzip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F28C3C"/>
                </a:solidFill>
                <a:latin typeface="Calibri"/>
              </a:rPr>
              <a:t>Person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349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Besteht ein Vorgang aus mehreren Schritten und gibt es für jeden Schritt mehrere Möglichkeiten, so multipliziert man die Anzahl der Möglichkeiten pro Schritt:</a:t>
            </a:r>
          </a:p>
        </p:txBody>
      </p:sp>
      <p:pic>
        <p:nvPicPr>
          <p:cNvPr id="6" name="Picture 5" descr="f_zaehlprinz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48" y="2743200"/>
            <a:ext cx="4566744" cy="914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3931920"/>
            <a:ext cx="5349240" cy="23317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2377440" cy="41148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BEISPIEL: OUTFIT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4800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27303A"/>
                </a:solidFill>
                <a:latin typeface="Calibri"/>
              </a:rPr>
              <a:t>3 Hemden  ×  4 Hosen  ×  2 Paar Schuhe</a:t>
            </a:r>
          </a:p>
          <a:p>
            <a:pPr marL="0" indent="0" algn="l">
              <a:buNone/>
            </a:pPr>
            <a:r>
              <a:rPr sz="1600" b="0" i="0">
                <a:solidFill>
                  <a:srgbClr val="27303A"/>
                </a:solidFill>
                <a:latin typeface="Calibri"/>
              </a:rPr>
              <a:t>Wie viele komplette Outfits sind möglich?</a:t>
            </a:r>
          </a:p>
        </p:txBody>
      </p:sp>
      <p:pic>
        <p:nvPicPr>
          <p:cNvPr id="10" name="Picture 9" descr="outfit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413" y="1234440"/>
            <a:ext cx="4912924" cy="3886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5255" y="5074920"/>
            <a:ext cx="5349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300" b="0" i="0">
                <a:solidFill>
                  <a:srgbClr val="8A96A6"/>
                </a:solidFill>
                <a:latin typeface="Calibri"/>
              </a:rPr>
              <a:t>Das Raster zeigt 3 Hemden × 4 Hosen = 12 Kombinationen. Für jede davon gibt es noch 2 Paar Schuhe → 12 × 2 = 24.</a:t>
            </a:r>
          </a:p>
        </p:txBody>
      </p:sp>
      <p:pic>
        <p:nvPicPr>
          <p:cNvPr id="12" name="Picture 11" descr="f_beispiel_outf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625" y="5715000"/>
            <a:ext cx="3238500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Sitzordnung &amp; Anagramm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Permutation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3D6EA5"/>
                </a:solidFill>
                <a:latin typeface="Calibri"/>
              </a:rPr>
              <a:t>Person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468880" cy="41148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OHNE WIEDERHOLUNG</a:t>
            </a:r>
          </a:p>
        </p:txBody>
      </p:sp>
      <p:pic>
        <p:nvPicPr>
          <p:cNvPr id="6" name="Picture 5" descr="f_permutation_oh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1637925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5349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Alle n Elemente werden in einer Reihenfolge angeordnet - jede Position zählt.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59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Beispiel: 5 Personen an einem Tisch →</a:t>
            </a:r>
          </a:p>
        </p:txBody>
      </p:sp>
      <p:pic>
        <p:nvPicPr>
          <p:cNvPr id="9" name="Picture 8" descr="f_beispiel_5fakulta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063240"/>
            <a:ext cx="1416269" cy="457200"/>
          </a:xfrm>
          <a:prstGeom prst="rect">
            <a:avLst/>
          </a:prstGeom>
        </p:spPr>
      </p:pic>
      <p:pic>
        <p:nvPicPr>
          <p:cNvPr id="10" name="Picture 9" descr="permutation_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392" y="1188720"/>
            <a:ext cx="3768966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5255" y="3273552"/>
            <a:ext cx="5349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300" b="0" i="0">
                <a:solidFill>
                  <a:srgbClr val="8A96A6"/>
                </a:solidFill>
                <a:latin typeface="Calibri"/>
              </a:rPr>
              <a:t>3 Freunde (A, B, C): jede Reihenfolge ist eine eigene Permutation → 3! =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13632"/>
            <a:ext cx="2468880" cy="41148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MIT WIEDERHOLUNG</a:t>
            </a:r>
          </a:p>
        </p:txBody>
      </p:sp>
      <p:pic>
        <p:nvPicPr>
          <p:cNvPr id="13" name="Picture 12" descr="f_permutation_m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62272"/>
            <a:ext cx="3101863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5193792"/>
            <a:ext cx="5349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Manche Elemente sind nicht unterscheidbar (z. B. gleiche Buchstaben) - wir teilen durch deren Fakultäten, damit wir nicht doppelt zählen.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5255" y="3913632"/>
            <a:ext cx="2651760" cy="411480"/>
          </a:xfrm>
          <a:prstGeom prst="roundRect">
            <a:avLst>
              <a:gd name="adj" fmla="val 35000"/>
            </a:avLst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BEISPIEL: ANAGRAMM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5255" y="4416552"/>
            <a:ext cx="5349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marL="0" indent="0">
              <a:buNone/>
            </a:pPr>
            <a:r>
              <a:rPr sz="4000" b="1">
                <a:solidFill>
                  <a:srgbClr val="1B3A5C"/>
                </a:solidFill>
                <a:latin typeface="Calibri"/>
              </a:rPr>
              <a:t>A</a:t>
            </a:r>
            <a:r>
              <a:rPr sz="4000" b="1">
                <a:solidFill>
                  <a:srgbClr val="F28C3C"/>
                </a:solidFill>
                <a:latin typeface="Calibri"/>
              </a:rPr>
              <a:t>N</a:t>
            </a:r>
            <a:r>
              <a:rPr sz="4000" b="1">
                <a:solidFill>
                  <a:srgbClr val="1B3A5C"/>
                </a:solidFill>
                <a:latin typeface="Calibri"/>
              </a:rPr>
              <a:t>A</a:t>
            </a:r>
            <a:r>
              <a:rPr sz="4000" b="1">
                <a:solidFill>
                  <a:srgbClr val="F28C3C"/>
                </a:solidFill>
                <a:latin typeface="Calibri"/>
              </a:rPr>
              <a:t>N</a:t>
            </a:r>
            <a:r>
              <a:rPr sz="4000" b="1">
                <a:solidFill>
                  <a:srgbClr val="1B3A5C"/>
                </a:solidFill>
                <a:latin typeface="Calibri"/>
              </a:rPr>
              <a:t>A</a:t>
            </a:r>
            <a:r>
              <a:rPr sz="4000" b="1">
                <a:solidFill>
                  <a:srgbClr val="3D6EA5"/>
                </a:solidFill>
                <a:latin typeface="Calibri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55" y="5285232"/>
            <a:ext cx="5349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300" b="0" i="0">
                <a:solidFill>
                  <a:srgbClr val="27303A"/>
                </a:solidFill>
                <a:latin typeface="Calibri"/>
              </a:rPr>
              <a:t>Wie viele unterschiedliche Anordnungen der Buchstaben von ANANAS gibt es?</a:t>
            </a:r>
          </a:p>
        </p:txBody>
      </p:sp>
      <p:pic>
        <p:nvPicPr>
          <p:cNvPr id="18" name="Picture 17" descr="f_beispiel_anan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149" y="5788151"/>
            <a:ext cx="2033451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Zählprinzip &amp; Permutation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Aufgabe für euch - Teil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</a:rPr>
              <a:t>Person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49240" cy="48463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554480"/>
            <a:ext cx="2194560" cy="45720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ZÄHLPRINZIP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800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Eine Pizzeria bietet 3 Größen, 5 Saucen und 2 Käsesorten an.</a:t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/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Wie viele verschiedene Pizzen kann man daraus zusammenstellen?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234440"/>
            <a:ext cx="5349240" cy="48463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9575" y="1508760"/>
            <a:ext cx="548640" cy="54864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1095" y="1554480"/>
            <a:ext cx="2194560" cy="45720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PERMUTATION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9575" y="2331720"/>
            <a:ext cx="4800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6 Freund:innen wollen sich für ein Gruppenfoto nebeneinander aufstellen.</a:t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/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Wie viele verschiedene Anordnungen sind möglich?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500" b="0" i="1">
                <a:solidFill>
                  <a:srgbClr val="8A96A6"/>
                </a:solidFill>
                <a:latin typeface="Calibri"/>
              </a:rPr>
              <a:t>Überlegt in Zweier- oder Dreiergruppen - ca. 2 Minuten Zeit!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Zählprinzip &amp; Permutation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Lösung - Teil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F28C3C"/>
                </a:solidFill>
                <a:latin typeface="Calibri"/>
              </a:rPr>
              <a:t>Person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49240" cy="48463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554480"/>
            <a:ext cx="2194560" cy="45720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ZÄHLPRINZIP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800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3 Größen × 5 Saucen × 2 Käsesorten:</a:t>
            </a:r>
          </a:p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3 unabhängige Schritte → multiplizieren.</a:t>
            </a:r>
          </a:p>
        </p:txBody>
      </p:sp>
      <p:pic>
        <p:nvPicPr>
          <p:cNvPr id="9" name="Picture 8" descr="f_aufgabe1_loe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48" y="3794760"/>
            <a:ext cx="3804744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892040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1B3A5C"/>
                </a:solidFill>
                <a:latin typeface="Calibri"/>
              </a:rPr>
              <a:t>→ 30 verschiedene Pizzen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5255" y="1234440"/>
            <a:ext cx="5349240" cy="48463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9575" y="1508760"/>
            <a:ext cx="548640" cy="54864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1095" y="1554480"/>
            <a:ext cx="2194560" cy="45720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PERMUTATION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575" y="2331720"/>
            <a:ext cx="4800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Alle 6 Personen besetzen alle 6 Plätze:</a:t>
            </a:r>
          </a:p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Permutation ohne Wiederholung → 6!.</a:t>
            </a:r>
          </a:p>
        </p:txBody>
      </p:sp>
      <p:pic>
        <p:nvPicPr>
          <p:cNvPr id="15" name="Picture 14" descr="f_aufgabe1b_loes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606" y="3794760"/>
            <a:ext cx="2832537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59575" y="4892040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1B3A5C"/>
                </a:solidFill>
                <a:latin typeface="Calibri"/>
              </a:rPr>
              <a:t>→ 720 mögliche Aufstellungen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Stockerlplatz &amp; PIN-Code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Variation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3D6EA5"/>
                </a:solidFill>
                <a:latin typeface="Calibri"/>
              </a:rPr>
              <a:t>Person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468880" cy="41148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OHNE WIEDERHOLUNG</a:t>
            </a:r>
          </a:p>
        </p:txBody>
      </p:sp>
      <p:pic>
        <p:nvPicPr>
          <p:cNvPr id="6" name="Picture 5" descr="f_variation_oh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1678932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5349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Reihenfolge wichtig, ohne Zurücklegen: Es werden nur k von n Elementen ausgewählt UND angeordnet.</a:t>
            </a:r>
          </a:p>
        </p:txBody>
      </p:sp>
      <p:pic>
        <p:nvPicPr>
          <p:cNvPr id="8" name="Picture 7" descr="f_beispiel_stocke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732384" cy="457200"/>
          </a:xfrm>
          <a:prstGeom prst="rect">
            <a:avLst/>
          </a:prstGeom>
        </p:spPr>
      </p:pic>
      <p:pic>
        <p:nvPicPr>
          <p:cNvPr id="9" name="Picture 8" descr="podi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252" y="1188720"/>
            <a:ext cx="2583246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5255" y="3273552"/>
            <a:ext cx="5349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300" b="0" i="0">
                <a:solidFill>
                  <a:srgbClr val="8A96A6"/>
                </a:solidFill>
                <a:latin typeface="Calibri"/>
              </a:rPr>
              <a:t>8 Läufer:innen, Plätze 1-3 (Stockerl) → V(8,3) = 8·7·6 = 336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13632"/>
            <a:ext cx="2468880" cy="41148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MIT WIEDERHOLUNG</a:t>
            </a:r>
          </a:p>
        </p:txBody>
      </p:sp>
      <p:pic>
        <p:nvPicPr>
          <p:cNvPr id="12" name="Picture 11" descr="f_variation_m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62272"/>
            <a:ext cx="2208804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148072"/>
            <a:ext cx="5349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Reihenfolge wichtig, MIT Zurücklegen: jedes der k Elemente kann erneut aus allen n Möglichkeiten gewählt werden.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5255" y="3913632"/>
            <a:ext cx="2834640" cy="411480"/>
          </a:xfrm>
          <a:prstGeom prst="roundRect">
            <a:avLst>
              <a:gd name="adj" fmla="val 35000"/>
            </a:avLst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AUFLÖSUNG: PIN-CODE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29907" y="4507992"/>
            <a:ext cx="822960" cy="82296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9907" y="45079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3600" b="1" i="0">
                <a:solidFill>
                  <a:srgbClr val="1B3A5C"/>
                </a:solidFill>
                <a:latin typeface="Calibri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8899" y="4507992"/>
            <a:ext cx="822960" cy="82296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8899" y="45079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3600" b="1" i="0">
                <a:solidFill>
                  <a:srgbClr val="1B3A5C"/>
                </a:solidFill>
                <a:latin typeface="Calibri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7891" y="4507992"/>
            <a:ext cx="822960" cy="82296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7891" y="45079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3600" b="1" i="0">
                <a:solidFill>
                  <a:srgbClr val="1B3A5C"/>
                </a:solidFill>
                <a:latin typeface="Calibri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66883" y="4507992"/>
            <a:ext cx="822960" cy="82296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66883" y="45079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3600" b="1" i="0">
                <a:solidFill>
                  <a:srgbClr val="1B3A5C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5255" y="5513832"/>
            <a:ext cx="5349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300" b="0" i="0">
                <a:solidFill>
                  <a:srgbClr val="27303A"/>
                </a:solidFill>
                <a:latin typeface="Calibri"/>
              </a:rPr>
              <a:t>4-stelliger PIN, Ziffern 0-9, Wiederholung erlaubt:</a:t>
            </a:r>
          </a:p>
        </p:txBody>
      </p:sp>
      <p:pic>
        <p:nvPicPr>
          <p:cNvPr id="24" name="Picture 23" descr="f_beispiel_p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9540" y="5879592"/>
            <a:ext cx="4540669" cy="594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Lotto &amp; Eisbecher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Kombination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</a:rPr>
              <a:t>Person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468880" cy="41148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OHNE WIEDERHOLUNG</a:t>
            </a:r>
          </a:p>
        </p:txBody>
      </p:sp>
      <p:pic>
        <p:nvPicPr>
          <p:cNvPr id="6" name="Picture 5" descr="f_kombination_oh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2711707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514600"/>
            <a:ext cx="5349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Reihenfolge EGAL, ohne Zurücklegen: Auswahl von k aus n Elementen, jede Auswahl zählt nur einmal.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5255" y="1234440"/>
            <a:ext cx="3017520" cy="411480"/>
          </a:xfrm>
          <a:prstGeom prst="roundRect">
            <a:avLst>
              <a:gd name="adj" fmla="val 35000"/>
            </a:avLst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BEISPIEL: LOTTO 6 AUS 45</a:t>
            </a:r>
          </a:p>
        </p:txBody>
      </p:sp>
      <p:pic>
        <p:nvPicPr>
          <p:cNvPr id="9" name="Picture 8" descr="lotto_ba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050" y="1783080"/>
            <a:ext cx="4271649" cy="914400"/>
          </a:xfrm>
          <a:prstGeom prst="rect">
            <a:avLst/>
          </a:prstGeom>
        </p:spPr>
      </p:pic>
      <p:pic>
        <p:nvPicPr>
          <p:cNvPr id="10" name="Picture 9" descr="f_lotto_ko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156" y="2834640"/>
            <a:ext cx="3561437" cy="777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3913632"/>
            <a:ext cx="2468880" cy="41148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MIT WIEDERHOLUNG</a:t>
            </a:r>
          </a:p>
        </p:txBody>
      </p:sp>
      <p:pic>
        <p:nvPicPr>
          <p:cNvPr id="12" name="Picture 11" descr="f_kombination_m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62272"/>
            <a:ext cx="3066506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193792"/>
            <a:ext cx="5349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Reihenfolge egal, MIT Zurücklegen: Auswahl von k aus n Sorten, Wiederholung erlaubt.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5255" y="3913632"/>
            <a:ext cx="2468880" cy="411480"/>
          </a:xfrm>
          <a:prstGeom prst="roundRect">
            <a:avLst>
              <a:gd name="adj" fmla="val 35000"/>
            </a:avLst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BEISPIEL: EISBECHER</a:t>
            </a:r>
          </a:p>
        </p:txBody>
      </p:sp>
      <p:pic>
        <p:nvPicPr>
          <p:cNvPr id="15" name="Picture 14" descr="icecr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371" y="4370832"/>
            <a:ext cx="1067288" cy="1554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85255" y="5879592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300" b="0" i="0">
                <a:solidFill>
                  <a:srgbClr val="27303A"/>
                </a:solidFill>
                <a:latin typeface="Calibri"/>
              </a:rPr>
              <a:t>3 Kugeln aus 5 Sorten, Wiederholung erlaubt:</a:t>
            </a:r>
          </a:p>
        </p:txBody>
      </p:sp>
      <p:pic>
        <p:nvPicPr>
          <p:cNvPr id="17" name="Picture 16" descr="f_beispiel_ei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7350" y="6153912"/>
            <a:ext cx="230505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Verbindung zum Binomialkoeffizienten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Pascal'sches Dreieck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F28C3C"/>
                </a:solidFill>
                <a:latin typeface="Calibri"/>
              </a:rPr>
              <a:t>Person B</a:t>
            </a:r>
          </a:p>
        </p:txBody>
      </p:sp>
      <p:pic>
        <p:nvPicPr>
          <p:cNvPr id="5" name="Picture 4" descr="pascal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47" y="1234440"/>
            <a:ext cx="36576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5349240" cy="155448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2468880" cy="36576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REKURSIONSFORMEL</a:t>
            </a:r>
          </a:p>
        </p:txBody>
      </p:sp>
      <p:pic>
        <p:nvPicPr>
          <p:cNvPr id="8" name="Picture 7" descr="f_pascal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04" y="5623560"/>
            <a:ext cx="5127232" cy="868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85255" y="5029200"/>
            <a:ext cx="5349240" cy="155448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59575" y="5212080"/>
            <a:ext cx="1554480" cy="36576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BEISPIEL</a:t>
            </a:r>
          </a:p>
        </p:txBody>
      </p:sp>
      <p:pic>
        <p:nvPicPr>
          <p:cNvPr id="11" name="Picture 10" descr="f_beispiel_pascal_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015" y="5623560"/>
            <a:ext cx="1601717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9815" y="5623560"/>
            <a:ext cx="2880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27303A"/>
                </a:solidFill>
                <a:latin typeface="Calibri"/>
              </a:rPr>
              <a:t>Die orange Zahl im Dreieck zeigt genau diesen Wert -</a:t>
            </a:r>
          </a:p>
          <a:p>
            <a:pPr marL="0" indent="0" algn="l">
              <a:buNone/>
            </a:pPr>
            <a:r>
              <a:rPr sz="1300" b="0" i="0">
                <a:solidFill>
                  <a:srgbClr val="27303A"/>
                </a:solidFill>
                <a:latin typeface="Calibri"/>
              </a:rPr>
              <a:t>genau wie bei "6 aus 45" beim Lotto.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Variation &amp; Kombination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Aufgabe für euch - Teil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3D6EA5"/>
                </a:solidFill>
                <a:latin typeface="Calibri"/>
              </a:rPr>
              <a:t>Person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49240" cy="48463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554480"/>
            <a:ext cx="2194560" cy="45720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VARIATION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800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Bei einem Wettbewerb treten 10 Teilnehmer:innen an.</a:t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/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Wie viele Möglichkeiten gibt es für die Vergabe von Platz 1, 2 und 3?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234440"/>
            <a:ext cx="5349240" cy="48463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9575" y="1508760"/>
            <a:ext cx="548640" cy="54864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1095" y="1554480"/>
            <a:ext cx="2194560" cy="45720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KOMBINATION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9575" y="2331720"/>
            <a:ext cx="4800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Aus 7 Bewerber:innen werden 3 Personen für ein Projektteam ausgewählt (Reihenfolge egal).</a:t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/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Wie viele verschiedene Teams sind möglich?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500" b="0" i="1">
                <a:solidFill>
                  <a:srgbClr val="8A96A6"/>
                </a:solidFill>
                <a:latin typeface="Calibri"/>
              </a:rPr>
              <a:t>Überlegt in Zweier- oder Dreiergruppen - ca. 2 Minuten Zeit!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Variation &amp; Kombination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Lösung - Teil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</a:rPr>
              <a:t>Person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49240" cy="48463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554480"/>
            <a:ext cx="2194560" cy="45720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VARIATION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800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27303A"/>
                </a:solidFill>
                <a:latin typeface="Calibri"/>
              </a:rPr>
              <a:t>Reihenfolge wichtig (Platz 1, 2, 3), nur 3 von 10</a:t>
            </a:r>
          </a:p>
          <a:p>
            <a:pPr marL="0" indent="0" algn="l">
              <a:buNone/>
            </a:pPr>
            <a:r>
              <a:rPr sz="1600" b="0" i="0">
                <a:solidFill>
                  <a:srgbClr val="27303A"/>
                </a:solidFill>
                <a:latin typeface="Calibri"/>
              </a:rPr>
              <a:t>werden ausgewählt → Variation ohne Wiederholung.</a:t>
            </a:r>
          </a:p>
        </p:txBody>
      </p:sp>
      <p:pic>
        <p:nvPicPr>
          <p:cNvPr id="9" name="Picture 8" descr="f_aufgabe2_loe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57" y="3794760"/>
            <a:ext cx="3909526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892040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1B3A5C"/>
                </a:solidFill>
                <a:latin typeface="Calibri"/>
              </a:rPr>
              <a:t>→ 720 mögliche Stockerlplätze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5255" y="1234440"/>
            <a:ext cx="5349240" cy="48463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9575" y="1508760"/>
            <a:ext cx="548640" cy="54864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1095" y="1554480"/>
            <a:ext cx="2194560" cy="45720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KOMBINATION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575" y="2331720"/>
            <a:ext cx="4800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27303A"/>
                </a:solidFill>
                <a:latin typeface="Calibri"/>
              </a:rPr>
              <a:t>Reihenfolge im Team egal, 3 von 7 werden</a:t>
            </a:r>
          </a:p>
          <a:p>
            <a:pPr marL="0" indent="0" algn="l">
              <a:buNone/>
            </a:pPr>
            <a:r>
              <a:rPr sz="1600" b="0" i="0">
                <a:solidFill>
                  <a:srgbClr val="27303A"/>
                </a:solidFill>
                <a:latin typeface="Calibri"/>
              </a:rPr>
              <a:t>ausgewählt → Kombination ohne Wiederholung.</a:t>
            </a:r>
          </a:p>
        </p:txBody>
      </p:sp>
      <p:pic>
        <p:nvPicPr>
          <p:cNvPr id="15" name="Picture 14" descr="f_aufgabe2b_loes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042" y="3794760"/>
            <a:ext cx="2243666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59575" y="4892040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1B3A5C"/>
                </a:solidFill>
                <a:latin typeface="Calibri"/>
              </a:rPr>
              <a:t>→ 35 mögliche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Von Zählen zu Chancen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Die Laplace-Wahrscheinlichkeit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F28C3C"/>
                </a:solidFill>
                <a:latin typeface="Calibri"/>
              </a:rPr>
              <a:t>Person B</a:t>
            </a:r>
          </a:p>
        </p:txBody>
      </p:sp>
      <p:pic>
        <p:nvPicPr>
          <p:cNvPr id="5" name="Picture 4" descr="f_la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337" y="1234440"/>
            <a:ext cx="2575020" cy="137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2834640"/>
            <a:ext cx="5349240" cy="19202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2926080" cy="41148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|A|  -  GÜNSTIGE FÄLLE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4800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500" b="0" i="0">
                <a:solidFill>
                  <a:srgbClr val="27303A"/>
                </a:solidFill>
                <a:latin typeface="Calibri"/>
              </a:rPr>
              <a:t>Anzahl der Ergebnisse, die das gewünschte Ereignis A erfüllen.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2834640"/>
            <a:ext cx="5349240" cy="19202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59575" y="3063240"/>
            <a:ext cx="2926080" cy="41148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|Ω|  -  MÖGLICHE FÄLLE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575" y="3657600"/>
            <a:ext cx="4800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500" b="0" i="0">
                <a:solidFill>
                  <a:srgbClr val="27303A"/>
                </a:solidFill>
                <a:latin typeface="Calibri"/>
              </a:rPr>
              <a:t>Anzahl ALLER möglichen Ergebnisse - der gesamte Ergebnisraum Ω.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83480"/>
            <a:ext cx="11277295" cy="1325880"/>
          </a:xfrm>
          <a:prstGeom prst="roundRect">
            <a:avLst/>
          </a:prstGeom>
          <a:solidFill>
            <a:srgbClr val="F6C84C"/>
          </a:solidFill>
          <a:ln w="15875">
            <a:solidFill>
              <a:srgbClr val="F28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10545775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1B3A5C"/>
                </a:solidFill>
                <a:latin typeface="Calibri"/>
              </a:rPr>
              <a:t>Voraussetzung: Alle Ergebnisse müssen gleich wahrscheinlich sein ("Laplace-Experiment") - z. B. ein fairer Würfel oder eine faire Münze.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Zwei Würfel, gleiche Augenzahl?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Beispiel: Würfeln (Pasch)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3D6EA5"/>
                </a:solidFill>
                <a:latin typeface="Calibri"/>
              </a:rPr>
              <a:t>Person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349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Zwei faire Würfel werden gleichzeitig geworfen.</a:t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/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Wie groß ist die Wahrscheinlichkeit für einen Pasch (beide Würfel zeigen dieselbe Zahl)?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97480"/>
            <a:ext cx="5349240" cy="11887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2651760" cy="41148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|Ω| - MÖGLICHE FÄLLE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6 · 6 = 36  (jeder Würfel hat 6 Augenzahlen → Zählprinzip)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5349240" cy="11887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2651760" cy="41148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|A| - GÜNSTIGE FÄLLE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6 Paschs: (1,1), (2,2), ..., (6,6) - die orange Diagonale</a:t>
            </a:r>
          </a:p>
        </p:txBody>
      </p:sp>
      <p:pic>
        <p:nvPicPr>
          <p:cNvPr id="12" name="Picture 11" descr="f_pa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01" y="5349240"/>
            <a:ext cx="3953637" cy="960120"/>
          </a:xfrm>
          <a:prstGeom prst="rect">
            <a:avLst/>
          </a:prstGeom>
        </p:spPr>
      </p:pic>
      <p:pic>
        <p:nvPicPr>
          <p:cNvPr id="13" name="Picture 12" descr="dice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1234440"/>
            <a:ext cx="5349240" cy="5349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Wie groß ist die Chance auf 6 Richtige?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Lotto 6 aus 45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</a:rPr>
              <a:t>Person A</a:t>
            </a:r>
          </a:p>
        </p:txBody>
      </p:sp>
      <p:pic>
        <p:nvPicPr>
          <p:cNvPr id="5" name="Picture 4" descr="lotto_b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5" y="1234440"/>
            <a:ext cx="5553144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2606040"/>
            <a:ext cx="5349240" cy="137160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2651760" cy="41148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|Ω| - MÖGLICHE FÄLLE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binom(45,6) = 8.145.060</a:t>
            </a:r>
          </a:p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alle möglichen Lotto-Tipps (siehe Folie 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2606040"/>
            <a:ext cx="5349240" cy="137160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59575" y="2788920"/>
            <a:ext cx="2651760" cy="41148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|A| - GÜNSTIGE FÄLLE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575" y="3291840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1</a:t>
            </a:r>
          </a:p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genau der eine gezogene Tipp</a:t>
            </a:r>
          </a:p>
        </p:txBody>
      </p:sp>
      <p:pic>
        <p:nvPicPr>
          <p:cNvPr id="12" name="Picture 11" descr="f_lotto_pr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12" y="4160520"/>
            <a:ext cx="8954870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5349240"/>
            <a:ext cx="11277295" cy="1097280"/>
          </a:xfrm>
          <a:prstGeom prst="roundRect">
            <a:avLst/>
          </a:prstGeom>
          <a:solidFill>
            <a:srgbClr val="F6C84C"/>
          </a:solidFill>
          <a:ln w="15875">
            <a:solidFill>
              <a:srgbClr val="F28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54577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500" b="1" i="0">
                <a:solidFill>
                  <a:srgbClr val="1B3A5C"/>
                </a:solidFill>
                <a:latin typeface="Calibri"/>
              </a:rPr>
              <a:t>Zum Vergleich: Das ist ungefähr so wahrscheinlich, wie unter allen Einwohner:innen Österreichs (ca. 9 Millionen) zufällig genau eine bestimmte Person auszuwählen.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Laplace-Wahrscheinlichkeit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Aufgabe für euch - Teil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F28C3C"/>
                </a:solidFill>
                <a:latin typeface="Calibri"/>
              </a:rPr>
              <a:t>Person B</a:t>
            </a:r>
          </a:p>
        </p:txBody>
      </p:sp>
      <p:pic>
        <p:nvPicPr>
          <p:cNvPr id="5" name="Picture 4" descr="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3" y="1234440"/>
            <a:ext cx="4363193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49240" y="1234440"/>
            <a:ext cx="6385255" cy="507492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0" y="1554480"/>
            <a:ext cx="1828800" cy="457200"/>
          </a:xfrm>
          <a:prstGeom prst="roundRect">
            <a:avLst>
              <a:gd name="adj" fmla="val 35000"/>
            </a:avLst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AUFGABE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240280"/>
            <a:ext cx="5745175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Eine Urne enthält 4 rote und 6 blaue Kugeln (insgesamt 10).</a:t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/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Es werden gleichzeitig 2 Kugeln gezogen (ohne Zurücklegen, Reihenfolge egal).</a:t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/>
            </a:r>
          </a:p>
          <a:p>
            <a:pPr marL="0" indent="0" algn="l">
              <a:buNone/>
            </a:pPr>
            <a:r>
              <a:rPr sz="1800" b="0" i="0">
                <a:solidFill>
                  <a:srgbClr val="27303A"/>
                </a:solidFill>
                <a:latin typeface="Calibri"/>
              </a:rPr>
              <a:t>Wie groß ist die Wahrscheinlichkeit, dass BEIDE Kugeln rot sind?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166360"/>
            <a:ext cx="57451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1">
                <a:solidFill>
                  <a:srgbClr val="8A96A6"/>
                </a:solidFill>
                <a:latin typeface="Calibri"/>
              </a:rPr>
              <a:t>Tipp: Überlegt euch |Ω| (alle möglichen 2er-Ziehungen aus 10) und |A| (beide Kugeln rot, aus den 4 roten).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500" b="0" i="1">
                <a:solidFill>
                  <a:srgbClr val="8A96A6"/>
                </a:solidFill>
                <a:latin typeface="Calibri"/>
              </a:rPr>
              <a:t>Überlegt in Zweier- oder Dreiergruppen - ca. 2 Minuten Zeit!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Laplace-Wahrscheinlichkeit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Lösung - Teil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3D6EA5"/>
                </a:solidFill>
                <a:latin typeface="Calibri"/>
              </a:rPr>
              <a:t>Person C</a:t>
            </a:r>
          </a:p>
        </p:txBody>
      </p:sp>
      <p:pic>
        <p:nvPicPr>
          <p:cNvPr id="5" name="Picture 4" descr="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0166"/>
            <a:ext cx="4572000" cy="53177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49240" y="1234440"/>
            <a:ext cx="6385255" cy="128016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0" y="1417320"/>
            <a:ext cx="2194560" cy="41148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|A| - BEIDE ROT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920240"/>
            <a:ext cx="58366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binom(4,2) = 6</a:t>
            </a:r>
          </a:p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2 von 4 roten Kugeln auswählen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2651760"/>
            <a:ext cx="6385255" cy="128016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0" y="2834640"/>
            <a:ext cx="2377440" cy="41148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|Ω| - ALLE ZIEHUNGEN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337560"/>
            <a:ext cx="58366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binom(10,2) = 45</a:t>
            </a:r>
          </a:p>
          <a:p>
            <a:pPr marL="0" indent="0" algn="l">
              <a:buNone/>
            </a:pPr>
            <a:r>
              <a:rPr sz="1400" b="0" i="0">
                <a:solidFill>
                  <a:srgbClr val="27303A"/>
                </a:solidFill>
                <a:latin typeface="Calibri"/>
              </a:rPr>
              <a:t>2 beliebige Kugeln von 10 auswählen</a:t>
            </a:r>
          </a:p>
        </p:txBody>
      </p:sp>
      <p:pic>
        <p:nvPicPr>
          <p:cNvPr id="12" name="Picture 11" descr="f_aufgabe3_loes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813" y="4114800"/>
            <a:ext cx="4152109" cy="1188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9240" y="5440680"/>
            <a:ext cx="63852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1B3A5C"/>
                </a:solidFill>
                <a:latin typeface="Calibri"/>
              </a:rPr>
              <a:t>→ ca. 13,3 % Wahrscheinlichkeit für "beide rot"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Welches Konzept passt?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Quiz für alle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1B3A5C"/>
                </a:solidFill>
                <a:latin typeface="Calibri"/>
              </a:rPr>
              <a:t>Person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1691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34440"/>
            <a:ext cx="690372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Du stellst 4 verschiedene Bücher in einer Reihe ins Regal.</a:t>
            </a:r>
          </a:p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Wie viele Anordnungen sind möglich?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34440"/>
            <a:ext cx="32918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A) Zählprinzip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B) Permutation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C) Variation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D) Kombination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1277295" cy="1691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566160"/>
            <a:ext cx="594360" cy="5943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17520"/>
            <a:ext cx="690372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Bei einem Pferderennen mit 6 Pferden werden die Plätze 1, 2 und 3 vergeben.</a:t>
            </a:r>
          </a:p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Wie viele Möglichkeiten gibt 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17520"/>
            <a:ext cx="32918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A) Zählprinzip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B) Permutation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C) Variation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D) Kombination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11277295" cy="1691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5349240"/>
            <a:ext cx="594360" cy="5943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00600"/>
            <a:ext cx="690372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Du ziehst gleichzeitig 3 Karten aus einem 32er-Kartenspiel (Reihenfolge egal).</a:t>
            </a:r>
          </a:p>
          <a:p>
            <a:pPr marL="0" indent="0" algn="l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Wie viele Möglichkeiten gibt 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00600"/>
            <a:ext cx="32918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A) Zählprinzip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B) Permutation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C) Variation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B3A5C"/>
                </a:solidFill>
                <a:latin typeface="Calibri"/>
              </a:rPr>
              <a:t>D) Kombination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Auflösung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Lösung Quiz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F28C3C"/>
                </a:solidFill>
                <a:latin typeface="Calibri"/>
              </a:rPr>
              <a:t>Person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1691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463040"/>
            <a:ext cx="3383280" cy="457200"/>
          </a:xfrm>
          <a:prstGeom prst="roundRect">
            <a:avLst>
              <a:gd name="adj" fmla="val 35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B) Permutation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03120"/>
            <a:ext cx="5943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27303A"/>
                </a:solidFill>
                <a:latin typeface="Calibri"/>
              </a:rPr>
              <a:t>Alle 4 Bücher werden angeordnet - Reihenfolge wichtig, alle Elemente werden verwendet.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234440"/>
            <a:ext cx="32918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2200" b="1" i="0">
                <a:solidFill>
                  <a:srgbClr val="1B3A5C"/>
                </a:solidFill>
                <a:latin typeface="Calibri"/>
              </a:rPr>
              <a:t>4! =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11277295" cy="1691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566160"/>
            <a:ext cx="594360" cy="59436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3246120"/>
            <a:ext cx="3383280" cy="457200"/>
          </a:xfrm>
          <a:prstGeom prst="roundRect">
            <a:avLst>
              <a:gd name="adj" fmla="val 35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C) Variation (ohne Wdh.)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886200"/>
            <a:ext cx="5943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27303A"/>
                </a:solidFill>
                <a:latin typeface="Calibri"/>
              </a:rPr>
              <a:t>Reihenfolge wichtig (Platz 1/2/3), aber nur 3 von 6 Pferden werden platziert.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17520"/>
            <a:ext cx="32918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2200" b="1" i="0">
                <a:solidFill>
                  <a:srgbClr val="1B3A5C"/>
                </a:solidFill>
                <a:latin typeface="Calibri"/>
              </a:rPr>
              <a:t>V(6,3) = 120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00600"/>
            <a:ext cx="11277295" cy="1691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5349240"/>
            <a:ext cx="594360" cy="594360"/>
          </a:xfrm>
          <a:prstGeom prst="ellipse">
            <a:avLst/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5029200"/>
            <a:ext cx="3383280" cy="457200"/>
          </a:xfrm>
          <a:prstGeom prst="roundRect">
            <a:avLst>
              <a:gd name="adj" fmla="val 35000"/>
            </a:avLst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D) Kombination (ohne Wdh.)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669280"/>
            <a:ext cx="5943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27303A"/>
                </a:solidFill>
                <a:latin typeface="Calibri"/>
              </a:rPr>
              <a:t>Reihenfolge egal - Auswahl von 3 Karten aus 32.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00600"/>
            <a:ext cx="32918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2200" b="1" i="0">
                <a:solidFill>
                  <a:srgbClr val="1B3A5C"/>
                </a:solidFill>
                <a:latin typeface="Calibri"/>
              </a:rPr>
              <a:t>C(32,3) = 4.960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Wann verwende ich was?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Übersichtstabelle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3D6EA5"/>
                </a:solidFill>
                <a:latin typeface="Calibri"/>
              </a:rPr>
              <a:t>Person 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5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48840"/>
                <a:gridCol w="2148840"/>
                <a:gridCol w="3687775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Konzept</a:t>
                      </a:r>
                    </a:p>
                  </a:txBody>
                  <a:tcPr marL="109728" marR="109728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Reihenfolge wichtig?</a:t>
                      </a:r>
                    </a:p>
                  </a:txBody>
                  <a:tcPr marL="109728" marR="109728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Wiederholung erlaubt?</a:t>
                      </a:r>
                    </a:p>
                  </a:txBody>
                  <a:tcPr marL="109728" marR="109728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Formel</a:t>
                      </a:r>
                    </a:p>
                  </a:txBody>
                  <a:tcPr marL="109728" marR="109728" marT="36576" marB="36576" anchor="ctr">
                    <a:solidFill>
                      <a:srgbClr val="1B3A5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3A5C"/>
                          </a:solidFill>
                          <a:latin typeface="Calibri"/>
                        </a:rPr>
                        <a:t>Permutation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Ja (alle n Elemente)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ohne: nein  /  mit: ja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P(n) = n!   bzw.   n! / (k₁!·k₂!·...)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3A5C"/>
                          </a:solidFill>
                          <a:latin typeface="Calibri"/>
                        </a:rPr>
                        <a:t>Variation - ohne Wiederholung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Ja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V(n,k) = n! / (n−k)!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3A5C"/>
                          </a:solidFill>
                          <a:latin typeface="Calibri"/>
                        </a:rPr>
                        <a:t>Variation - mit Wiederholung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Ja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Ja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V_W(n,k) = nᵏ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3A5C"/>
                          </a:solidFill>
                          <a:latin typeface="Calibri"/>
                        </a:rPr>
                        <a:t>Kombination - ohne Wiederholung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C(n,k) = (n über k)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3A5C"/>
                          </a:solidFill>
                          <a:latin typeface="Calibri"/>
                        </a:rPr>
                        <a:t>Kombination - mit Wiederholung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Ja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7303A"/>
                          </a:solidFill>
                          <a:latin typeface="Calibri"/>
                        </a:rPr>
                        <a:t>C_W(n,k) = (n+k−1 über k)</a:t>
                      </a:r>
                    </a:p>
                  </a:txBody>
                  <a:tcPr marL="109728" marR="109728" marT="36576" marB="36576" anchor="ctr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300" b="0" i="1">
                <a:solidFill>
                  <a:srgbClr val="8A96A6"/>
                </a:solidFill>
                <a:latin typeface="Calibri"/>
              </a:rPr>
              <a:t>Tipp: Bei der Permutation gilt immer k = n - alle Elemente werden verwendet.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Die wichtigsten Takeaways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8A96A6"/>
                </a:solidFill>
                <a:latin typeface="Calibri"/>
              </a:rPr>
              <a:t>Alle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11880" cy="5120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5940" y="1600200"/>
            <a:ext cx="914400" cy="91440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2971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Das Zählprinzip ist die Basis für alles: Bei mehreren unabhängigen Schritten einfach die Anzahl der Möglichkeiten pro Schritt multiplizieren.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234440"/>
            <a:ext cx="3611880" cy="5120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F28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37276" y="1600200"/>
            <a:ext cx="914400" cy="91440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834640"/>
            <a:ext cx="2971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Zwei Fragen führen zur richtigen Formel: Ist die Reihenfolge wichtig? Wird mit Wiederholung gewählt? → Permutation, Variation oder Kombination.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34440"/>
            <a:ext cx="3611880" cy="5120640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3D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68612" y="1600200"/>
            <a:ext cx="914400" cy="914400"/>
          </a:xfrm>
          <a:prstGeom prst="ellipse">
            <a:avLst/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marL="0" indent="0"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2834640"/>
            <a:ext cx="2971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700" b="0" i="0">
                <a:solidFill>
                  <a:srgbClr val="27303A"/>
                </a:solidFill>
                <a:latin typeface="Calibri"/>
              </a:rPr>
              <a:t>Mit Laplace P(A) = |A| / |Ω| werden aus Kombinatorik-Formeln konkrete Wahrscheinlichkeiten - z. B. warum ein Lotto-Sechser so unwahrscheinlich 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300" b="1">
                <a:solidFill>
                  <a:srgbClr val="F6C84C"/>
                </a:solidFill>
                <a:latin typeface="Calibri"/>
              </a:rPr>
              <a:t>Verwendete Materialien</a:t>
            </a:r>
          </a:p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</a:rPr>
              <a:t>Quellen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335" y="329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 marL="0" indent="0">
              <a:buNone/>
            </a:pPr>
            <a:r>
              <a:rPr sz="1300" b="1">
                <a:solidFill>
                  <a:srgbClr val="8A96A6"/>
                </a:solidFill>
                <a:latin typeface="Calibri"/>
              </a:rPr>
              <a:t>Alle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800"/>
              </a:spcAft>
              <a:buClr>
                <a:srgbClr val="F28C3C"/>
              </a:buClr>
              <a:buFont typeface="Arial"/>
              <a:buChar char="•"/>
            </a:pPr>
            <a:r>
              <a:rPr sz="2000">
                <a:solidFill>
                  <a:srgbClr val="27303A"/>
                </a:solidFill>
                <a:latin typeface="Calibri"/>
              </a:rPr>
              <a:t>BMBWF - Lehrplan &amp; Formelsammlung Angewandte Mathematik (AHS/BHS)</a:t>
            </a:r>
          </a:p>
          <a:p>
            <a:pPr marL="228600" indent="-228600">
              <a:spcAft>
                <a:spcPts val="1800"/>
              </a:spcAft>
              <a:buClr>
                <a:srgbClr val="F28C3C"/>
              </a:buClr>
              <a:buFont typeface="Arial"/>
              <a:buChar char="•"/>
            </a:pPr>
            <a:r>
              <a:rPr sz="2000">
                <a:solidFill>
                  <a:srgbClr val="27303A"/>
                </a:solidFill>
                <a:latin typeface="Calibri"/>
              </a:rPr>
              <a:t>Schulbuch Angewandte Mathematik (Klassenset - Titel/Verlag bitte ergänzen)</a:t>
            </a:r>
          </a:p>
          <a:p>
            <a:pPr marL="228600" indent="-228600">
              <a:spcAft>
                <a:spcPts val="1800"/>
              </a:spcAft>
              <a:buClr>
                <a:srgbClr val="F28C3C"/>
              </a:buClr>
              <a:buFont typeface="Arial"/>
              <a:buChar char="•"/>
            </a:pPr>
            <a:r>
              <a:rPr sz="2000">
                <a:solidFill>
                  <a:srgbClr val="27303A"/>
                </a:solidFill>
                <a:latin typeface="Calibri"/>
              </a:rPr>
              <a:t>mathe-online.at - Kombinatorik &amp; Wahrscheinlichkeitsrechnung</a:t>
            </a:r>
          </a:p>
          <a:p>
            <a:pPr marL="228600" indent="-228600">
              <a:spcAft>
                <a:spcPts val="1800"/>
              </a:spcAft>
              <a:buClr>
                <a:srgbClr val="F28C3C"/>
              </a:buClr>
              <a:buFont typeface="Arial"/>
              <a:buChar char="•"/>
            </a:pPr>
            <a:r>
              <a:rPr sz="2000">
                <a:solidFill>
                  <a:srgbClr val="27303A"/>
                </a:solidFill>
                <a:latin typeface="Calibri"/>
              </a:rPr>
              <a:t>Österreichische Lotterien - Spielregeln &amp; Gewinnwahrscheinlichkeiten Lotto 6 aus 45</a:t>
            </a:r>
          </a:p>
          <a:p>
            <a:pPr marL="228600" indent="-228600">
              <a:spcAft>
                <a:spcPts val="1800"/>
              </a:spcAft>
              <a:buClr>
                <a:srgbClr val="F28C3C"/>
              </a:buClr>
              <a:buFont typeface="Arial"/>
              <a:buChar char="•"/>
            </a:pPr>
            <a:r>
              <a:rPr sz="2000">
                <a:solidFill>
                  <a:srgbClr val="27303A"/>
                </a:solidFill>
                <a:latin typeface="Calibri"/>
              </a:rPr>
              <a:t>Wikipedia - Permutation, Variation, Kombination, Laplace-Wahrscheinlichkeit (Stand: Juni 2026)</a:t>
            </a:r>
          </a:p>
          <a:p>
            <a:pPr marL="228600" indent="-228600">
              <a:spcAft>
                <a:spcPts val="1800"/>
              </a:spcAft>
              <a:buClr>
                <a:srgbClr val="F28C3C"/>
              </a:buClr>
              <a:buFont typeface="Arial"/>
              <a:buChar char="•"/>
            </a:pPr>
            <a:r>
              <a:rPr sz="2000">
                <a:solidFill>
                  <a:srgbClr val="27303A"/>
                </a:solidFill>
                <a:latin typeface="Calibri"/>
              </a:rPr>
              <a:t>Alle Diagramme und Formelgrafiken: selbst erstellt mit Python (matplotlib, python-pptx)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43055" y="644652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buNone/>
            </a:pPr>
            <a:r>
              <a:rPr sz="1100" b="0" i="0">
                <a:solidFill>
                  <a:srgbClr val="8A96A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1097280"/>
            <a:ext cx="3291840" cy="3291840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114800"/>
            <a:ext cx="3474720" cy="3474720"/>
          </a:xfrm>
          <a:prstGeom prst="ellipse">
            <a:avLst/>
          </a:prstGeom>
          <a:solidFill>
            <a:srgbClr val="3D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5303520"/>
            <a:ext cx="1828800" cy="1828800"/>
          </a:xfrm>
          <a:prstGeom prst="ellipse">
            <a:avLst/>
          </a:prstGeom>
          <a:solidFill>
            <a:srgbClr val="F6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</a:rPr>
              <a:t>Danke für eure Aufmerksamkeit!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3200" b="1" i="0">
                <a:solidFill>
                  <a:srgbClr val="F6C84C"/>
                </a:solidFill>
                <a:latin typeface="Calibri"/>
              </a:rPr>
              <a:t>Fragen?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buNone/>
            </a:pPr>
            <a:r>
              <a:rPr sz="1600" b="0" i="0">
                <a:solidFill>
                  <a:srgbClr val="E8F1FA"/>
                </a:solidFill>
                <a:latin typeface="Calibri"/>
              </a:rPr>
              <a:t>Person A  ·  Person B  ·  Person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