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 durch alle drei Vortragenden. Kurze Vorstellung. Ziel: Ihr versteht heute, wie man zählt ohne wirklich zu zählen – und warum manche Zahlen viel größer sind als man denkt.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stellt die Agenda vor und präsentiert die drei Gedankenexperiment-Fragen. Kurze Pause nach jeder Frage – das Publikum soll mental schätzen, NICHT laut antworten. Sagen: 'Diese drei Fragen werden wir heute Schritt für Schritt beantworten!' Überleitung zu Simon für das Zählprinzip.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erklärt das Zählprinzip am Outfit-Beispiel: 3×4=12 Hemd-Hosen-Kombinationen, jede davon × 2 Schuhe = 24. Das Raster macht das visuell greifbar. Betonen: Das Zählprinzip ist die GRUNDLAGE für Permutation, Variation und Kombination! Überleitung zu Daniel.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erklärt Permutation ohne Wiederholung (Baumdiagramm, 3 Freunde = 6 Reihenfolgen, dann 5 Personen = 5!=120). Danach ANANAS mit Wiederholung: 6 Buchstaben, A kommt 3x, N 2x vor → 6!/(3!·2!·1!)=60. Überleitung zu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erklärt Variation ohne Wiederholung (Stockerlplatz: 8 Läufer, nur 3 Plätze, Reihenfolge zählt → V(8,3)=336). Dann Variation MIT Wiederholung und die Auflösung der ersten Gedankenexperiment-Frage: 10^4 = 10.000 PINs! Überleitung zu Simon.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erklärt Kombination ohne Wiederholung am Handynummer-Beispiel: 15 Schüler:innen, Reihenfolge egal → C(15,2) = 105 Austausche! Viele Leute erwarten ~15 oder ~30 – 105 überrascht. Das ist die Auflösung von Frage 2! Dann Kombination MIT Wiederholung (Eisbecher). Überleitung zu Daniel.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zeigt das Pascal'sche Dreieck: jede Zahl = Summe der zwei Zahlen darüber (Rekursionsformel). Die orange 15 = binom(6,2) – direkte Verbindung zu Kombination. Das Dreieck ist eine fertige Tabelle für alle Binomialkoeffizienten. Überleitung zu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führt die Laplace-Wahrscheinlichkeit ein: P(A)=|A|/|Omega|. Sofort am Beispiel demonstrieren: Würfelpasch. |Omega|=36 (Zählprinzip!), |A|=6 (Diagonale). P(Pasch)=6/36=1/6. Betonen: Kombinatorik UND Wahrscheinlichkeit hängen direkt zusammen. Überleitung zu Simon.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löst die dritte Gedankenexperiment-Frage auf: P(6 Richtige)=1/8.145.060. Den Österreich-Vergleich nutzen, um die Größenordnung greifbar zu machen. Jetzt alle 3 Fragen beantwortet – kurze Pause, dann Überleitung zu Daniel für den praktischen 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erklärt kurz die Spielregeln und erzeugt Spannung. Wichtig: Schätzungen werden im Kopf behalten oder auf einen Zettel geschrieben – KEIN Taschenrechner, KEIN Gespräch! Dann Überleitung zu Max für Runde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liest die Frage vor und gibt 30-45 Sekunden Zeit zum Schätzen. Dann kurze Handshow: 'Wer schätzt unter 1.000? Unter 1 Million? Über 1 Milliarde?' Spannung erzeugen, dann Überleitung zu Simon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enthüllt die Auflösung: 15! = 1.307.674.368.000 ≈ 1,3 Billionen! Den 'Steinzeit-Vergleich' als Anker verwenden: seit ca. 39.000 v. Chr. eine Reihenfolge pro Sekunde – und man wäre gerade fertig (Homo sapiens war damals gerade auf dem Weg nach Europa!). Kurzes 'WOW' abwarten. Überleitung zu Daniel für Runde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liest die Frage vor. Diesmal gibt es einen Tipp ('Permutation von 52') damit die Klasse annähernd die Größenordnung einschätzen kann. Gleich: Handshow-Schätzung 'Wer sagt mehr als 1.000? 1 Million? 1 Milliarde? 1 Trillion?' Überleitung zu Max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enthüllt 52! ≈ 8,07×10^67. Die drei Bullet-Points nacheinander vorlesen und kurze Pause danach lassen – das 'Fazit' ist ein echter Gesprächsstarter. Überleitung zu Simon: 'Jetzt fassen wir alles nochmal kompakt zusammen – welche Formel, wann?'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fasst alle 5 Konzepte in der Entscheidungstabelle zusammen. Die zwei Fragen (Reihenfolge? Wiederholung?) direkt nennen – das ist der Matura-Trick, der immer funktioniert. Überleitung zu allen drei für die Zusammenfassung.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Person spricht ihren eigenen Takeaway in 1-2 Sätzen, Reihenfolge A→B→C. Diese drei Sätze sind die Kernbotschaften für die Matura.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kurz zeigen (relevant für die Bewertung) – Schulbuch-Titel/Verlag vor Abgabe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 drei bedanken sich gemeinsam und stehen für Fragen bereit. Falls keine Fragen: 'Was war eure überraschendste Zahl heute?'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4663440"/>
            <a:ext cx="3291840" cy="329184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5212080"/>
            <a:ext cx="1920240" cy="192024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BBF24"/>
                </a:solidFill>
                <a:latin typeface="Calibri"/>
              </a:rPr>
              <a:t>MATURA MATHEMATIK  ·  STOCHASTIK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4800" b="1" i="0">
                <a:solidFill>
                  <a:srgbClr val="FFFFFF"/>
                </a:solidFill>
                <a:latin typeface="Calibri"/>
              </a:rPr>
              <a:t>Kombinatorik &amp; Wahrscheinlichkeit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0" i="1">
                <a:solidFill>
                  <a:srgbClr val="EFF6FF"/>
                </a:solidFill>
                <a:latin typeface="Calibri"/>
              </a:rPr>
              <a:t>Wie viele Möglichkeiten gibt es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FFFFFF"/>
                </a:solidFill>
                <a:latin typeface="Calibri"/>
              </a:rPr>
              <a:t>Vorgetragen von Max Manahl, Simon Schick &amp; Daniel Kornfeld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5. Klasse HAK · Angewandte Mathematik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Heute auf dem Programm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Agenda &amp; Einstiegsfragen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1E3A8A"/>
                </a:solidFill>
                <a:latin typeface="Calibri"/>
              </a:rPr>
              <a:t>Max Manahl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Das Zählprinzip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Permutation, Variation, Kombination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Pascal'sches Dreieck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Laplace-Wahrscheinlichkeit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Praktischer Teil: Estimation-Spiel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5255" y="1234440"/>
            <a:ext cx="534924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05295" y="155448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GEDANKENEXPERIMENT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295" y="22402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0F172A"/>
                </a:solidFill>
                <a:latin typeface="Calibri"/>
              </a:rPr>
              <a:t>Drei Fragen – notiert eure Schätzung im Kopf:</a:t>
            </a:r>
          </a:p>
        </p:txBody>
      </p:sp>
      <p:sp>
        <p:nvSpPr>
          <p:cNvPr id="10" name="Oval 9"/>
          <p:cNvSpPr/>
          <p:nvPr/>
        </p:nvSpPr>
        <p:spPr>
          <a:xfrm>
            <a:off x="6659575" y="288036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1095" y="288036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viele 4-stellige PIN-Codes gibt es?</a:t>
            </a:r>
          </a:p>
        </p:txBody>
      </p:sp>
      <p:sp>
        <p:nvSpPr>
          <p:cNvPr id="12" name="Oval 11"/>
          <p:cNvSpPr/>
          <p:nvPr/>
        </p:nvSpPr>
        <p:spPr>
          <a:xfrm>
            <a:off x="6659575" y="406908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095" y="406908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Ihr alle tauscht eure Handynummern aus.</a:t>
            </a:r>
          </a:p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viele Austausche finden statt?</a:t>
            </a:r>
          </a:p>
        </p:txBody>
      </p:sp>
      <p:sp>
        <p:nvSpPr>
          <p:cNvPr id="14" name="Oval 13"/>
          <p:cNvSpPr/>
          <p:nvPr/>
        </p:nvSpPr>
        <p:spPr>
          <a:xfrm>
            <a:off x="6659575" y="52578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1095" y="525780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wahrscheinlich ist Lotto 6 aus 45?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Die Grundlage der Kombinatorik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Das Zählprinzip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EA580C"/>
                </a:solidFill>
                <a:latin typeface="Calibri"/>
              </a:rPr>
              <a:t>Simon Schick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49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800" b="0" i="0">
                <a:solidFill>
                  <a:srgbClr val="0F172A"/>
                </a:solidFill>
                <a:latin typeface="Calibri"/>
              </a:rPr>
              <a:t>Besteht ein Vorgang aus mehreren Schritten und gibt es für jeden Schritt mehrere Möglichkeiten, multipliziert man die Anzahl der Möglichkeiten pro Schritt:</a:t>
            </a:r>
          </a:p>
        </p:txBody>
      </p:sp>
      <p:pic>
        <p:nvPicPr>
          <p:cNvPr id="7" name="Picture 6" descr="f_zaehlprinz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48" y="2743200"/>
            <a:ext cx="4566744" cy="914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931920"/>
            <a:ext cx="5349240" cy="23317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237744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BEISPIEL: OUTFIT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48006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3 Hemden  ×  4 Hosen  ×  2 Paar Schuhe</a:t>
            </a:r>
          </a:p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Raster zeigt 12 Hemd-Hosen-Komb., × 2 Schuhe → 24 Outfits</a:t>
            </a:r>
          </a:p>
        </p:txBody>
      </p:sp>
      <p:pic>
        <p:nvPicPr>
          <p:cNvPr id="11" name="Picture 10" descr="outfit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413" y="1234440"/>
            <a:ext cx="4912924" cy="3886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5255" y="507492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0F172A"/>
                </a:solidFill>
                <a:latin typeface="Calibri"/>
              </a:rPr>
              <a:t>Formel: 3 × 4 × 2 =</a:t>
            </a:r>
          </a:p>
        </p:txBody>
      </p:sp>
      <p:pic>
        <p:nvPicPr>
          <p:cNvPr id="13" name="Picture 12" descr="f_beispiel_outf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1255" y="5120640"/>
            <a:ext cx="209550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Sitzordnung &amp; Anagramm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Permutation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2563EB"/>
                </a:solidFill>
                <a:latin typeface="Calibri"/>
              </a:rPr>
              <a:t>Daniel Kornfeld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permut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3792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46888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Alle n Elemente werden angeordnet, jede Position zählt.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Beispiel: 5 Personen am Tisch →</a:t>
            </a:r>
          </a:p>
        </p:txBody>
      </p:sp>
      <p:pic>
        <p:nvPicPr>
          <p:cNvPr id="10" name="Picture 9" descr="f_beispiel_5fakulta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108959"/>
            <a:ext cx="1416269" cy="457200"/>
          </a:xfrm>
          <a:prstGeom prst="rect">
            <a:avLst/>
          </a:prstGeom>
        </p:spPr>
      </p:pic>
      <p:pic>
        <p:nvPicPr>
          <p:cNvPr id="11" name="Picture 10" descr="permutation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392" y="1188720"/>
            <a:ext cx="3768966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3 Freunde (A, B, C): 3! = 6 Sitzordnungen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4" name="Picture 13" descr="f_permut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3101863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5193792"/>
            <a:ext cx="5349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Manche Elemente sind gleich – teilen durch deren Fakultäten.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5255" y="3913632"/>
            <a:ext cx="265176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ANAGRAMM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4416552"/>
            <a:ext cx="5349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EA580C"/>
                </a:solidFill>
                <a:latin typeface="Calibri"/>
              </a:rPr>
              <a:t>N</a:t>
            </a: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EA580C"/>
                </a:solidFill>
                <a:latin typeface="Calibri"/>
              </a:rPr>
              <a:t>N</a:t>
            </a: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2563EB"/>
                </a:solidFill>
                <a:latin typeface="Calibri"/>
              </a:rPr>
              <a:t>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5255" y="5285232"/>
            <a:ext cx="5349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Verschiedene Anordnungen von ANANAS?</a:t>
            </a:r>
          </a:p>
        </p:txBody>
      </p:sp>
      <p:pic>
        <p:nvPicPr>
          <p:cNvPr id="19" name="Picture 18" descr="f_beispiel_anan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773" y="5833872"/>
            <a:ext cx="1888204" cy="594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Stockerlplatz &amp; PIN-Code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Variation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1E3A8A"/>
                </a:solidFill>
                <a:latin typeface="Calibri"/>
              </a:rPr>
              <a:t>Max Manahl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vari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78932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468880"/>
            <a:ext cx="5349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wichtig, ohne Zurücklegen: k von n Elementen werden ausgewählt UND angeordnet.</a:t>
            </a:r>
          </a:p>
        </p:txBody>
      </p:sp>
      <p:pic>
        <p:nvPicPr>
          <p:cNvPr id="9" name="Picture 8" descr="f_beispiel_stocke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83280"/>
            <a:ext cx="1732384" cy="457200"/>
          </a:xfrm>
          <a:prstGeom prst="rect">
            <a:avLst/>
          </a:prstGeom>
        </p:spPr>
      </p:pic>
      <p:pic>
        <p:nvPicPr>
          <p:cNvPr id="10" name="Picture 9" descr="pod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8252" y="1188720"/>
            <a:ext cx="2583246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8 Läufer:innen, Plätze 1-3 → V(8,3) = 8·7·6 = 336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3" name="Picture 12" descr="f_vari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2208804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148072"/>
            <a:ext cx="5349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wichtig, MIT Zurücklegen: jede Stelle kann beliebig aus allen n Möglichkeiten gewählt werden.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3913632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29907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9907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8899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8899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7891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7891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6883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6883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5255" y="5513832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4-stelliger PIN, Ziffern 0-9, Wiederholung erlaubt:</a:t>
            </a:r>
          </a:p>
        </p:txBody>
      </p:sp>
      <p:pic>
        <p:nvPicPr>
          <p:cNvPr id="25" name="Picture 24" descr="f_beispiel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182" y="5925312"/>
            <a:ext cx="4191386" cy="548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Handynummern &amp; Eisbecher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Kombination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EA580C"/>
                </a:solidFill>
                <a:latin typeface="Calibri"/>
              </a:rPr>
              <a:t>Simon Schick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kombin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2711707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51460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EGAL, ohne Zurücklegen.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85255" y="1234440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5255" y="1737360"/>
            <a:ext cx="5349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1E3A8A"/>
                </a:solidFill>
                <a:latin typeface="Calibri"/>
              </a:rPr>
              <a:t>Ihr 15 Schüler:innen tauscht gegenseitig</a:t>
            </a:r>
          </a:p>
          <a:p>
            <a:pPr marL="0" indent="0" algn="l">
              <a:buNone/>
            </a:pPr>
            <a:r>
              <a:rPr sz="1600" b="1" i="0">
                <a:solidFill>
                  <a:srgbClr val="1E3A8A"/>
                </a:solidFill>
                <a:latin typeface="Calibri"/>
              </a:rPr>
              <a:t>Handynummern aus – wie viele Austausche?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255" y="2651760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 (A tauscht mit B = B tauscht mit A) →</a:t>
            </a:r>
          </a:p>
        </p:txBody>
      </p:sp>
      <p:pic>
        <p:nvPicPr>
          <p:cNvPr id="12" name="Picture 11" descr="f_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629" y="3200400"/>
            <a:ext cx="2734491" cy="640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4" name="Picture 13" descr="f_kombination_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62272"/>
            <a:ext cx="3066506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5193792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egal, MIT Zurücklegen.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5255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EISBECHER</a:t>
            </a:r>
          </a:p>
        </p:txBody>
      </p:sp>
      <p:pic>
        <p:nvPicPr>
          <p:cNvPr id="17" name="Picture 16" descr="ice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0457" y="4416552"/>
            <a:ext cx="973116" cy="1417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5255" y="5833872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3 Kugeln aus 5 Sorten, Wiederholung erlaubt:</a:t>
            </a:r>
          </a:p>
        </p:txBody>
      </p:sp>
      <p:pic>
        <p:nvPicPr>
          <p:cNvPr id="19" name="Picture 18" descr="f_beispiel_e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9292" y="6108192"/>
            <a:ext cx="2561166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Verbindung zum Binomialkoeffizienten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Pascal'sches Dreieck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2563EB"/>
                </a:solidFill>
                <a:latin typeface="Calibri"/>
              </a:rPr>
              <a:t>Daniel Kornfeld</a:t>
            </a:r>
          </a:p>
        </p:txBody>
      </p:sp>
      <p:pic>
        <p:nvPicPr>
          <p:cNvPr id="6" name="Picture 5" descr="pascal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7" y="1234440"/>
            <a:ext cx="365760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029200"/>
            <a:ext cx="5349240" cy="1554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5212080"/>
            <a:ext cx="2468880" cy="36576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REKURSIONSFORMEL</a:t>
            </a:r>
          </a:p>
        </p:txBody>
      </p:sp>
      <p:pic>
        <p:nvPicPr>
          <p:cNvPr id="9" name="Picture 8" descr="f_pasc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04" y="5623560"/>
            <a:ext cx="5127232" cy="868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85255" y="5029200"/>
            <a:ext cx="5349240" cy="1554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59575" y="5212080"/>
            <a:ext cx="1554480" cy="36576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BEISPIEL</a:t>
            </a:r>
          </a:p>
        </p:txBody>
      </p:sp>
      <p:pic>
        <p:nvPicPr>
          <p:cNvPr id="12" name="Picture 11" descr="f_beispiel_pascal_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015" y="5623560"/>
            <a:ext cx="1601717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79815" y="5623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Die orange 15 im Dreieck = binom(6,2)</a:t>
            </a:r>
          </a:p>
          <a:p>
            <a:pPr marL="0" indent="0" algn="l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genau wie bei Lotto 6 aus 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Von Zählen zu Chancen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Laplace-Wahrscheinlichkeit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1E3A8A"/>
                </a:solidFill>
                <a:latin typeface="Calibri"/>
              </a:rPr>
              <a:t>Max Manahl</a:t>
            </a:r>
          </a:p>
        </p:txBody>
      </p:sp>
      <p:pic>
        <p:nvPicPr>
          <p:cNvPr id="6" name="Picture 5" descr="f_la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310" y="1234440"/>
            <a:ext cx="257502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743200"/>
            <a:ext cx="5349240" cy="1097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|A|  –  GÜNSTIGE FÄLLE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Ergebnisse, die Ereignis A erfüllen.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77639"/>
            <a:ext cx="5349240" cy="1097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|Ω|  –  MÖGLICHE FÄLLE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Alle Ergebnisse – der gesamte Ergebnisraum Ω.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5349240" cy="96012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12080"/>
            <a:ext cx="47091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500" b="1" i="0">
                <a:solidFill>
                  <a:srgbClr val="1E3A8A"/>
                </a:solidFill>
                <a:latin typeface="Calibri"/>
              </a:rPr>
              <a:t>Voraussetzung: Laplace-Experiment –</a:t>
            </a:r>
          </a:p>
          <a:p>
            <a:pPr marL="0" indent="0" algn="l">
              <a:buNone/>
            </a:pPr>
            <a:r>
              <a:rPr sz="1500" b="1" i="0">
                <a:solidFill>
                  <a:srgbClr val="1E3A8A"/>
                </a:solidFill>
                <a:latin typeface="Calibri"/>
              </a:rPr>
              <a:t>alle Ergebnisse gleich wahrscheinlich.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1234440"/>
            <a:ext cx="32004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WÜRFELN (PASCH)</a:t>
            </a:r>
          </a:p>
        </p:txBody>
      </p:sp>
      <p:pic>
        <p:nvPicPr>
          <p:cNvPr id="16" name="Picture 15" descr="dic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075" y="1783080"/>
            <a:ext cx="3657600" cy="3657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85255" y="5577840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|Ω| = 36 (6·6, Zählprinzip)   |A| = 6 Paschs (Diagonale)</a:t>
            </a:r>
          </a:p>
        </p:txBody>
      </p:sp>
      <p:pic>
        <p:nvPicPr>
          <p:cNvPr id="18" name="Picture 17" descr="f_pa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5459" y="4892040"/>
            <a:ext cx="3388831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Auflösung: Wie wahrscheinlich ist ein Sechser?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Lotto 6 aus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EA580C"/>
                </a:solidFill>
                <a:latin typeface="Calibri"/>
              </a:rPr>
              <a:t>Simon Schick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AUFLÖSUNG: FRAGE 3</a:t>
            </a:r>
          </a:p>
        </p:txBody>
      </p:sp>
      <p:pic>
        <p:nvPicPr>
          <p:cNvPr id="7" name="Picture 6" descr="lotto_b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858" y="1828800"/>
            <a:ext cx="5125979" cy="1097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2788920"/>
            <a:ext cx="5349240" cy="12801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29260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|Ω| – ALLE MÖGLICHEN TIPPS</a:t>
            </a:r>
          </a:p>
        </p:txBody>
      </p:sp>
      <p:pic>
        <p:nvPicPr>
          <p:cNvPr id="10" name="Picture 9" descr="f_lotto_ko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842" y="3474720"/>
            <a:ext cx="2513956" cy="5486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385255" y="2788920"/>
            <a:ext cx="5349240" cy="12801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59575" y="2971800"/>
            <a:ext cx="256032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|A| – GENAU DEIN TIPP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9575" y="347472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1   (genau der eine gezogene Tipp)</a:t>
            </a:r>
          </a:p>
        </p:txBody>
      </p:sp>
      <p:pic>
        <p:nvPicPr>
          <p:cNvPr id="14" name="Picture 13" descr="f_lotto_pr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452" y="4251960"/>
            <a:ext cx="8140791" cy="9144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57200" y="5349240"/>
            <a:ext cx="11277295" cy="100584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400" b="1" i="0">
                <a:solidFill>
                  <a:srgbClr val="1E3A8A"/>
                </a:solidFill>
                <a:latin typeface="Calibri"/>
              </a:rPr>
              <a:t>Das ist ungefähr so wahrscheinlich, wie unter allen Einwohner:innen Österreichs (9 Mio.) zufällig genau eine bestimmte Person auszuwählen.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Estimation-Spiel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Praktischer Teil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2563EB"/>
                </a:solidFill>
                <a:latin typeface="Calibri"/>
              </a:rPr>
              <a:t>Daniel Kornfeld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1E3A8A"/>
                </a:solidFill>
                <a:latin typeface="Calibri"/>
              </a:rPr>
              <a:t>Jetzt seid ihr dran!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11277295" cy="31089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1" i="0">
                <a:solidFill>
                  <a:srgbClr val="1E3A8A"/>
                </a:solidFill>
                <a:latin typeface="Calibri"/>
              </a:rPr>
              <a:t>Wie das Spiel funktioniert: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Wir stellen eine überraschende Frage.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Jede Person schätzt still – kein Austausch mit Sitznachbar:innen!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Dann rechnen wir gemeinsam nach.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Wer lag am nächsten dran? (kein Preis, nur Ruhm 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A580C"/>
                </a:solidFill>
                <a:latin typeface="Calibri"/>
              </a:rPr>
              <a:t>2 Runden – bereit?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Permutation im echten Leben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Eure Schätzung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1E3A8A"/>
                </a:solidFill>
                <a:latin typeface="Calibri"/>
              </a:rPr>
              <a:t>Max Manahl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E3A8A"/>
                </a:solidFill>
                <a:latin typeface="Calibri"/>
              </a:rPr>
              <a:t>Wenn ihr alle nacheinander das Zimmer verlasst 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wie viele verschiedene Reihenfolgen gibt es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für euch 15 Schüler:innen?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64748B"/>
                </a:solidFill>
                <a:latin typeface="Calibri"/>
              </a:rPr>
              <a:t>Schreib deine Schätzung auf – wir vergleichen gleich!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15! – Permutation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EA580C"/>
                </a:solidFill>
                <a:latin typeface="Calibri"/>
              </a:rPr>
              <a:t>Simon Schick</a:t>
            </a:r>
          </a:p>
        </p:txBody>
      </p:sp>
      <p:pic>
        <p:nvPicPr>
          <p:cNvPr id="6" name="Picture 5" descr="f_klasse_p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5517"/>
            <a:ext cx="11277295" cy="986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Das entspricht der Permutation von 15 Personen: P(15) = 15!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5349240" cy="3383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219456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ZUM VERGLEICH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1 Reihenfolge pro Sekunde →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≈ 41.466 Jahre, um alle durchzuprobieren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Beginn: ca. 39.000 v. Chr. (Steinzeit!)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Ende: ca. heute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5255" y="3017520"/>
            <a:ext cx="5349240" cy="338328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59575" y="3200400"/>
            <a:ext cx="137160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FORMEL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9575" y="3749039"/>
            <a:ext cx="48006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15! = 15 · 14 · 13 · ... · 2 · 1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/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Wachstum der Fakultät ist astronomisch schnell –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schon 15! übersteigt 1,3 Billionen!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Noch größere Zahlen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Eure Schätzung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2563EB"/>
                </a:solidFill>
                <a:latin typeface="Calibri"/>
              </a:rPr>
              <a:t>Daniel Kornfeld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E3A8A"/>
                </a:solidFill>
                <a:latin typeface="Calibri"/>
              </a:rPr>
              <a:t>Wie viele verschiedene Möglichkeiten gibt es,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ein Standard-Kartenspiel mit 52 Karten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zu mischen?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64748B"/>
                </a:solidFill>
                <a:latin typeface="Calibri"/>
              </a:rPr>
              <a:t>Tipp: Das ist eine Permutation von 52 Elementen – P(52) = 52!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52! – die unvorstellbare Zahl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1E3A8A"/>
                </a:solidFill>
                <a:latin typeface="Calibri"/>
              </a:rPr>
              <a:t>Max Manahl</a:t>
            </a:r>
          </a:p>
        </p:txBody>
      </p:sp>
      <p:pic>
        <p:nvPicPr>
          <p:cNvPr id="6" name="Picture 5" descr="f_kartensp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07" y="1234440"/>
            <a:ext cx="5074680" cy="914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331720"/>
            <a:ext cx="11277295" cy="21031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228600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DAS BEDEUTET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054577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Das sichtbare Universum hat ca. 10⁸⁰ Atome.</a:t>
            </a:r>
          </a:p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52! ≈ 8 × 10⁶⁷  –  das ist immer noch kleiner als 10⁸⁰.</a:t>
            </a:r>
          </a:p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Aber: Wenn jedes Atom seit dem Urknall jede Sekunde eine neue Reihenfolge bildet → es gäbe noch kaum Wiederholungen.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663440"/>
            <a:ext cx="11277295" cy="164592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362895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1800" b="1" i="0">
                <a:solidFill>
                  <a:srgbClr val="1E3A8A"/>
                </a:solidFill>
                <a:latin typeface="Calibri"/>
              </a:rPr>
              <a:t>Fazit: Fast jede Kartenmischung, die du je in deinem Leben machst,</a:t>
            </a:r>
          </a:p>
          <a:p>
            <a:pPr marL="0" indent="0" algn="ctr">
              <a:buNone/>
            </a:pPr>
            <a:r>
              <a:rPr sz="1800" b="1" i="0">
                <a:solidFill>
                  <a:srgbClr val="1E3A8A"/>
                </a:solidFill>
                <a:latin typeface="Calibri"/>
              </a:rPr>
              <a:t>ist mit höchster Wahrscheinlichkeit einzigartig in der gesamten Menschheitsgeschichte.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Wann verwende ich was?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Übersichtstabelle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EA580C"/>
                </a:solidFill>
                <a:latin typeface="Calibri"/>
              </a:rPr>
              <a:t>Simon Schick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7729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48840"/>
                <a:gridCol w="2148840"/>
                <a:gridCol w="368777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Konzept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Reihenfolge wichtig?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Wiederholung erlaubt?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Formel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Permutation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 (alle n Elemente)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ohne: nein  /  mit: 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P(n) = n!   bzw.   n! / (k₁!·k₂!·...)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Variation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V(n,k) = n! / (n−k)!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Variation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V_W(n,k) = nᵏ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Kombination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C(n,k) = (n über k)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Kombination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C_W(n,k) = (n+k−1 über k)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1">
                <a:solidFill>
                  <a:srgbClr val="64748B"/>
                </a:solidFill>
                <a:latin typeface="Calibri"/>
              </a:rPr>
              <a:t>Tipp: Zuerst fragen – Ist die Reihenfolge wichtig? Dann – Wird wiederholt?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Die wichtigsten Takeaways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Zusammenfassung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64748B"/>
                </a:solidFill>
                <a:latin typeface="Calibri"/>
              </a:rPr>
              <a:t>Alle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05940" y="1600200"/>
            <a:ext cx="914400" cy="9144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Das Zählprinzip ist die Basis: Bei unabhängigen Schritten einfach die Möglichkeiten pro Schritt multiplizieren.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37276" y="1600200"/>
            <a:ext cx="914400" cy="91440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Zwei Fragen führen zur richtigen Formel: Ist die Reihenfolge wichtig? Wird mit Wiederholung gewählt?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8612" y="1600200"/>
            <a:ext cx="914400" cy="9144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Mit Laplace P(A) = |A| / |Ω| werden Kombinatorik-Formeln zu konkreten Wahrscheinlichkeiten – z. B. beim Lotto.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Verwendete Materialien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Quellen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51415" y="3291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200" b="1">
                <a:solidFill>
                  <a:srgbClr val="64748B"/>
                </a:solidFill>
                <a:latin typeface="Calibri"/>
              </a:rPr>
              <a:t>Alle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BMBWF – Lehrplan &amp; Formelsammlung Angewandte Mathematik (AHS/BHS)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Schulbuch Angewandte Mathematik (Titel/Verlag bitte ergänzen)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mathe-online.at – Kombinatorik &amp; Wahrscheinlichkeitsrechnung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Österreichische Lotterien – Spielregeln &amp; Gewinnwahrscheinlichkeiten Lotto 6 aus 45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Wikipedia – Permutation, Variation, Kombination, Laplace-Wahrscheinlichkeit (Stand: Juni 2026)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Alle Diagramme und Formelgrafiken: selbst erstellt mit Python (matplotlib, python-pptx)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097280"/>
            <a:ext cx="3291840" cy="329184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114800"/>
            <a:ext cx="3474720" cy="34747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5303520"/>
            <a:ext cx="1828800" cy="18288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Danke für eure Aufmerksamkeit!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3200" b="1" i="0">
                <a:solidFill>
                  <a:srgbClr val="FBBF24"/>
                </a:solidFill>
                <a:latin typeface="Calibri"/>
              </a:rPr>
              <a:t>Fragen?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600" b="0" i="0">
                <a:solidFill>
                  <a:srgbClr val="EFF6FF"/>
                </a:solidFill>
                <a:latin typeface="Calibri"/>
              </a:rPr>
              <a:t>Max Manahl  ·  Simon Schick  ·  Daniel Kornfeld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